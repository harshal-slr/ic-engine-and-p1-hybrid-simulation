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00000"/>
                </a:solidFill>
                <a:latin typeface="Arial"/>
              </a:rPr>
              <a:t>BMEP peaks near 4000 rpm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BMEP [bar]</c:v>
                </c:pt>
              </c:strCache>
            </c:strRef>
          </c:tx>
          <c:spPr>
            <a:ln w="25400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7.4</c:v>
                </c:pt>
                <c:pt idx="1">
                  <c:v>9.5500000000000007</c:v>
                </c:pt>
                <c:pt idx="2">
                  <c:v>11</c:v>
                </c:pt>
                <c:pt idx="3">
                  <c:v>11.25</c:v>
                </c:pt>
                <c:pt idx="4">
                  <c:v>10.6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001-CC45-B6DE-C000B18C2E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BSFC / 25 [g/kWh]</c:v>
                </c:pt>
              </c:strCache>
            </c:strRef>
          </c:tx>
          <c:spPr>
            <a:ln w="254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10.76</c:v>
                </c:pt>
                <c:pt idx="1">
                  <c:v>9.74</c:v>
                </c:pt>
                <c:pt idx="2">
                  <c:v>9.6</c:v>
                </c:pt>
                <c:pt idx="3">
                  <c:v>9.82</c:v>
                </c:pt>
                <c:pt idx="4">
                  <c:v>10.38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001-CC45-B6DE-C000B18C2E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150" b="0" i="0" u="none" strike="noStrike">
                <a:solidFill>
                  <a:srgbClr val="000000"/>
                </a:solidFill>
                <a:latin typeface="Arial"/>
              </a:rPr>
              <a:t>Peak cylinder pressure vs. spark advance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Peak pressure [bar]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-10°</c:v>
                </c:pt>
                <c:pt idx="1">
                  <c:v>-15°</c:v>
                </c:pt>
                <c:pt idx="2">
                  <c:v>-20°</c:v>
                </c:pt>
                <c:pt idx="3">
                  <c:v>-25°</c:v>
                </c:pt>
                <c:pt idx="4">
                  <c:v>-30°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51</c:v>
                </c:pt>
                <c:pt idx="2">
                  <c:v>61</c:v>
                </c:pt>
                <c:pt idx="3">
                  <c:v>69</c:v>
                </c:pt>
                <c:pt idx="4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A3-964A-9532-E8A46860D6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085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384048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4846320"/>
            <a:ext cx="2926080" cy="292608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7FB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AND PROPULSION SYSTEMS FOR UV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Exercises 1 &amp; 2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GT-Power IC Engine Simulation  •  P1 Hybrid Vehicle Simulation with ECMS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85542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Harshal Rajesh Kokitkar</a:t>
            </a:r>
            <a:br>
              <a:rPr lang="en-US" sz="1300" b="1" dirty="0"/>
            </a:br>
            <a:r>
              <a:rPr lang="en-US" sz="13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 Autonomous Vehicle Engineering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Federico II  —  July 2026</a:t>
            </a:r>
            <a:endParaRPr lang="en-US" sz="11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2C5C0B4B-F8AC-D1A4-4085-60508F85D9AB}"/>
              </a:ext>
            </a:extLst>
          </p:cNvPr>
          <p:cNvSpPr/>
          <p:nvPr/>
        </p:nvSpPr>
        <p:spPr>
          <a:xfrm>
            <a:off x="73152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EEB08A1F-17A1-C9D3-BF7C-A0281BEFB6E0}"/>
              </a:ext>
            </a:extLst>
          </p:cNvPr>
          <p:cNvSpPr/>
          <p:nvPr/>
        </p:nvSpPr>
        <p:spPr>
          <a:xfrm>
            <a:off x="731520" y="3494314"/>
            <a:ext cx="7525713" cy="992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Prof. ALFREDO GIMELLI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dirty="0">
                <a:solidFill>
                  <a:schemeClr val="bg1"/>
                </a:solidFill>
              </a:rPr>
              <a:t>Prof. VINCENZO DE BELLIS</a:t>
            </a:r>
            <a:br>
              <a:rPr lang="en-US" sz="1300" b="1" dirty="0">
                <a:solidFill>
                  <a:schemeClr val="bg1"/>
                </a:solidFill>
              </a:rPr>
            </a:b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E8F1F5"/>
          </a:solidFill>
          <a:ln/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1 — IC Engine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GT-Power 1D simulation: speed sweep, AFR sweep, spark-advance sweep, throttle/load sweep.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E8F1F5"/>
          </a:solidFill>
          <a:ln/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2011680"/>
            <a:ext cx="640080" cy="640080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28803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2 — Vehicle Simulation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61188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hybrid EV, ECMS energy management, WLTC + Artemis cycles, emissions, mass sensitivity.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E8F1F5"/>
          </a:solidFill>
          <a:ln/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58200" y="2011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5820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28803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361188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takeaways linking engine-level and vehicle-level results.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Harshal Rajesh Kokitkar  |  AVE, Federico II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2377440"/>
            <a:ext cx="4114800" cy="4114800"/>
          </a:xfrm>
          <a:prstGeom prst="ellipse">
            <a:avLst/>
          </a:prstGeom>
          <a:solidFill>
            <a:srgbClr val="E8A33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9144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1: IC Engine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GT-Power Simulation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4343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sub-cases on a 4-cylinder SI port-fuel-injected engine — speed, AFR, spark advance, and throttle/load sweeps.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·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Scaling Parameters</a:t>
            </a:r>
            <a:endParaRPr lang="en-US" sz="3000" dirty="0"/>
          </a:p>
        </p:txBody>
      </p:sp>
      <p:pic>
        <p:nvPicPr>
          <p:cNvPr id="4" name="Image 0" descr="/sessions/zealous-charming-cerf/mnt/outputs/deck/images/setup_case1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6675120" cy="37547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1463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Assigned parameters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498080" y="1828800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80960" y="182880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 multiplier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149840" y="182880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0.97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98080" y="2606040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680960" y="260604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multiplier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149840" y="260604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1.04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98080" y="3383280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680960" y="338328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torque multiplier (Ex.2)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0149840" y="338328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1.02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98080" y="4160520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680960" y="416052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template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149840" y="416052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SI_4cyl_SITurb_PortFuelFilm_TWallSoln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618488" y="4782312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cylinders, predictive SI combustion, knock model, port fuel-film dynamics, in-cylinder wall-temperature solver. AFR held stoichiometric (14.7) for the baseline.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Model Setup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Harshal Rajesh Kokitkar  |  AVE, Federico II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8FD120A-19ED-29B1-BE55-44A11F2F8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552" y="4956048"/>
            <a:ext cx="47244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· CASE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Speed Sweep (1000–5000 rpm, WOT)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900128470"/>
              </p:ext>
            </p:extLst>
          </p:nvPr>
        </p:nvGraphicFramePr>
        <p:xfrm flipH="1">
          <a:off x="1153886" y="2326059"/>
          <a:ext cx="1371600" cy="45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 0" descr="/sessions/zealous-charming-cerf/mnt/outputs/deck/images/c1_p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554480"/>
            <a:ext cx="5120640" cy="3657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0" y="5257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p–V loop, 5000 rpm: classic figure-eight (high-pressure loop + gas-exchange loop).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57200" y="489204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Torque/BMEP rise with volumetric efficiency (≈69% → 100%), peak near 3500–4000 rpm as friction/pumping losses overtake breathing gains. Brake power keeps climbing to 5000 rpm since P_b = T_b·ω. BSFC is minimized (≈240 g/kWh) near 3000 rpm where indicated efficiency peaks (≈39%).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Case 1: Speed Sweep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Harshal Rajesh Kokitkar  |  AVE, Federico II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2BEE78-3135-9A54-3880-2A938BAB3C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921" y="1875028"/>
            <a:ext cx="5168900" cy="2349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· CASE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Air–Fuel Ratio Sweep: Rich vs. Lean</a:t>
            </a:r>
            <a:endParaRPr lang="en-US" sz="3000" dirty="0"/>
          </a:p>
        </p:txBody>
      </p:sp>
      <p:pic>
        <p:nvPicPr>
          <p:cNvPr id="4" name="Image 0" descr="/sessions/zealous-charming-cerf/mnt/outputs/deck/images/c2_rich_p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3657600" cy="2612571"/>
          </a:xfrm>
          <a:prstGeom prst="rect">
            <a:avLst/>
          </a:prstGeom>
        </p:spPr>
      </p:pic>
      <p:pic>
        <p:nvPicPr>
          <p:cNvPr id="5" name="Image 1" descr="/sessions/zealous-charming-cerf/mnt/outputs/deck/images/c2_lean_p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554480"/>
            <a:ext cx="3657600" cy="261257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167051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(AFR 11.76)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297680" y="4167051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(AFR 17.64)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1600200"/>
          <a:ext cx="3474720" cy="237744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BMEP rich [bar]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A7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BMEP lean [bar]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BSFC rich [g/kWh]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A7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BSFC lean [g/kWh]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457200" y="5458968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mixtures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~25% more fuel per cycle → higher BMEP/torque/power, but higher BSFC.
</a:t>
            </a:r>
            <a:r>
              <a:rPr lang="en-US" sz="125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mixtures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 closer to the SI efficiency optimum (λ≈1.1–1.2) → BSFC 20–25% lower, at the cost of 15–25% less output. Classic rich-power / lean-economy trade-off.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Case 2: AFR Sweep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Harshal Rajesh Kokitkar  |  AVE, Federico II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0B0C85-E5CA-7B90-4FBB-37F7240313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41407"/>
            <a:ext cx="7498080" cy="7379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· CASE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Spark-Advance Sweep (3000 rpm)</a:t>
            </a:r>
            <a:endParaRPr lang="en-US" sz="30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2499654638"/>
              </p:ext>
            </p:extLst>
          </p:nvPr>
        </p:nvGraphicFramePr>
        <p:xfrm>
          <a:off x="3892731" y="1636776"/>
          <a:ext cx="40233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5"/>
          <p:cNvSpPr/>
          <p:nvPr/>
        </p:nvSpPr>
        <p:spPr>
          <a:xfrm>
            <a:off x="457200" y="470916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Advancing the spark (−10° → −30° CA) fires earlier, concentrating combustion near TDC: peak pressure rises monotonically from ≈40 to ≈76 bar, and its location moves from ≈29° to ≈7–8° ATDC.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Case 3: Spark-Advance Sweep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Harshal Rajesh Kokitkar  |  AVE, Federico II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· CASE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Throttle Position / Load Sweep</a:t>
            </a:r>
            <a:endParaRPr lang="en-US" sz="3000" dirty="0"/>
          </a:p>
        </p:txBody>
      </p:sp>
      <p:pic>
        <p:nvPicPr>
          <p:cNvPr id="4" name="Image 0" descr="/sessions/zealous-charming-cerf/mnt/outputs/deck/images/c4_BSFC_vs_load_throt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6949440" cy="3335731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63440"/>
          <a:ext cx="6949440" cy="1188720"/>
        </p:xfrm>
        <a:graphic>
          <a:graphicData uri="http://schemas.openxmlformats.org/drawingml/2006/table">
            <a:tbl>
              <a:tblPr/>
              <a:tblGrid>
                <a:gridCol w="1389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Throttle [°]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BSFC [g/kWh]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1126.0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653.2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421.2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282.5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635240" y="1600200"/>
            <a:ext cx="4114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throttle at light load creates a large pumping loop (negative work, high PMEP) and starves the cylinder of trapped air. BSFC falls steeply and non-linearly — more than half the total improvement is realised by the second point alone (5%→10% load). </a:t>
            </a: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motivates ECMS avoiding light-load ICE operation in Exercise 2.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Case 4: Throttle/Load Sweep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Harshal Rajesh Kokitkar  |  AVE, Federico II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· 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1 —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947672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63040" y="18013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sweep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180136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Torque/BMEP peak ~3500–4000 rpm; power rises to 5000 rpm (P=T·ω); BSFC minimized ~3000 rpm.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3136392"/>
            <a:ext cx="548640" cy="548640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 sweep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299008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buys peak torque at the cost of BSFC; lean buys economy at the cost of output.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5800" y="432511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63040" y="417880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advance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417880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Advancing spark moves combustion toward TDC, raising peak pressure and indicated work up to MBT.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525780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551383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63040" y="536752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Throttle/load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536752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Pumping losses dominate at light load; BSFC improves sharply and non-linearly as throttle opens.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Conclusions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Harshal Rajesh Kokitkar  |  AVE, Federico II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2377440"/>
            <a:ext cx="4114800" cy="4114800"/>
          </a:xfrm>
          <a:prstGeom prst="ellipse">
            <a:avLst/>
          </a:prstGeom>
          <a:solidFill>
            <a:srgbClr val="3FA79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2: P1 Hybrid Vehicle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with ECMS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343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WLTC Class 3 and Artemis cycles, emission assessment against Euro 6e / EU CO₂ target, and vehicle-mass sensitivity analysis.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· ARCHITECTURE &amp; 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Architecture &amp; ECMS Energy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Hybrid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rigidly coupled to the crankshaft, upstream of clutch/transmission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24328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62432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pure-EV propulsion — EM always rotates with the 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91256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3191256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assist, generation (load-point shifting), partial regen braking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58184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758184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start/stop via integrated starter-generator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4622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torque map multiplier (assigned): × 1.02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Architecture &amp; ECMS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Harshal Rajesh Kokitkar  |  AVE, Federico II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0EB015D-A7BF-51A8-EF25-87812580A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352" y="1910334"/>
            <a:ext cx="5359400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· WLTC BASELINE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WLTC Class 3 — Cycle Following &amp; SOC</a:t>
            </a:r>
            <a:endParaRPr lang="en-US" sz="3000" dirty="0"/>
          </a:p>
        </p:txBody>
      </p:sp>
      <p:pic>
        <p:nvPicPr>
          <p:cNvPr id="4" name="Image 0" descr="/sessions/zealous-charming-cerf/mnt/outputs/deck/images/ex2_fig1_wltc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6858000" cy="352021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73736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863840" y="18105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 → 57.5–58.5%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863840" y="2304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start → end (charge-sustaining)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80960" y="297180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863840" y="30449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5.5 l/100km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863840" y="3538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fuel economy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80960" y="420624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863840" y="42793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1800 s / 23.27 km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863840" y="47731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duration / distance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680960" y="55321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dips to ~55% in the extra-high-speed phase (peak demand); the adaptive EF restores it toward the 60% target.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WLTC Baseline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Harshal Rajesh Kokitkar  |  AVE, Federico II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· WLTC BASELINE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ICE/EM Power Split &amp; Tailpipe Emissions</a:t>
            </a:r>
            <a:endParaRPr lang="en-US" sz="3000" dirty="0"/>
          </a:p>
        </p:txBody>
      </p:sp>
      <p:pic>
        <p:nvPicPr>
          <p:cNvPr id="4" name="Image 0" descr="/sessions/zealous-charming-cerf/mnt/outputs/deck/images/ex2_fig2_wltc_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6035040" cy="41084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662978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provides essentially all traction power (peaks ≈50 kW); EM exchanges only ±3 kW — typical P1 mild-hybrid behaviour.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91640"/>
          <a:ext cx="4937760" cy="23774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Pollutant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Limit/Target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[g/km]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(Euro 6e)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FA7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THC [g/km]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0.014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 (Euro 6e)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FA7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NOx [g/km]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8×10⁻⁴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 (Euro 6e)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FA7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[g/km]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 (EU 2025 fleet)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766560" y="429768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HC, CO and NOx are comfortably compliant with Euro 6e. </a:t>
            </a: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(≈125 g/km) exceeds the 2025 EU fleet-average target of 93.6 g/km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mild P1 hybrid alone is not sufficient at this vehicle mass; stronger electrification or downsizing would be needed.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Emissions vs. Euro 6e / EU CO₂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Harshal Rajesh Kokitkar  |  AVE, Federico II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· OPERATING POINTS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BSFC Map &amp; Motor Efficiency Map</a:t>
            </a:r>
            <a:endParaRPr lang="en-US" sz="3000" dirty="0"/>
          </a:p>
        </p:txBody>
      </p:sp>
      <p:pic>
        <p:nvPicPr>
          <p:cNvPr id="4" name="Image 0" descr="/sessions/zealous-charming-cerf/mnt/outputs/deck/images/ex2_fig4_bsfc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08760"/>
            <a:ext cx="5760720" cy="4419803"/>
          </a:xfrm>
          <a:prstGeom prst="rect">
            <a:avLst/>
          </a:prstGeom>
        </p:spPr>
      </p:pic>
      <p:pic>
        <p:nvPicPr>
          <p:cNvPr id="5" name="Image 1" descr="/sessions/zealous-charming-cerf/mnt/outputs/deck/images/ex2_fig5_em_eff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08760"/>
            <a:ext cx="5486400" cy="37349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598932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points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1000–3000 rpm, pushed toward medium–high load where BSFC nears its minimum (≈240–260 g/kWh); ECMS avoids sustained light-load operation.   </a:t>
            </a:r>
            <a:r>
              <a:rPr lang="en-US" sz="115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points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in a low-torque band on both sides of zero — an intrinsic P1 limitation, since the machine is sized for smoothing/recuperation, not traction.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BSFC &amp; Efficiency Maps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Harshal Rajesh Kokitkar  |  AVE, Federico II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· CYCLE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Artemis Rural &amp; Motorway (Same ECMS, No Retuning)</a:t>
            </a:r>
            <a:endParaRPr lang="en-US" sz="3000" dirty="0"/>
          </a:p>
        </p:txBody>
      </p:sp>
      <p:pic>
        <p:nvPicPr>
          <p:cNvPr id="4" name="Image 0" descr="/sessions/zealous-charming-cerf/mnt/outputs/deck/images/ex2_fig6_7_artemis_ru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4480560" cy="34396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994163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Rural Road: ICE/EM power — frequent moderate accel/decel, best fuel economy of the three cycles.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600200"/>
          <a:ext cx="6492240" cy="2834640"/>
        </p:xfrm>
        <a:graphic>
          <a:graphicData uri="http://schemas.openxmlformats.org/drawingml/2006/table">
            <a:tbl>
              <a:tblPr/>
              <a:tblGrid>
                <a:gridCol w="1623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WLTC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Artemis Rural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Artemis Motorway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[s]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SOC [%]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57.5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57.7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58.5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econ. [l/100km]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[g/km]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[g/km]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257800" y="4617720"/>
            <a:ext cx="6492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follows mean traction power: motorway &gt; WLTC &gt; rural. </a:t>
            </a: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motorway cycle, hybrid benefit almost vanishes and CO (≈1.1 g/km) exceeds the Euro 6e number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acceptable since Euro 6e is legally defined on WLTC, but it flags sensitivity to high-load enrichment. The adaptive ECMS keeps charge-sustaining operation on every cycle with no retuning.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Cycle Comparison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Harshal Rajesh Kokitkar  |  AVE, Federico II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· SENSITIVITY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Mass Sensitivity (±25%, WLTC)</a:t>
            </a:r>
            <a:endParaRPr lang="en-US" sz="3000" dirty="0"/>
          </a:p>
        </p:txBody>
      </p:sp>
      <p:pic>
        <p:nvPicPr>
          <p:cNvPr id="4" name="Image 0" descr="/sessions/zealous-charming-cerf/mnt/outputs/deck/images/ex2_fig18_19_mass_s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4663440" cy="38110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319811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&amp; EM power vs. time, three mass cases (1217 / 1623 / 2029 kg).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600200"/>
          <a:ext cx="6309360" cy="1920240"/>
        </p:xfrm>
        <a:graphic>
          <a:graphicData uri="http://schemas.openxmlformats.org/drawingml/2006/table">
            <a:tbl>
              <a:tblPr/>
              <a:tblGrid>
                <a:gridCol w="1577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1217 kg (−25%)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1623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2029 kg (+25%)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SOC [%]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57.5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57.5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econ. [l/100km]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FA7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[g/km]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FA7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39496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 justification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394960" y="416052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 = m·a + m·g·cr·cosα + ½·ρ·cx·A·v² + m·g·sinα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394960" y="4709160"/>
            <a:ext cx="6309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and rolling-resistance terms scale directly with mass — on a transient cycle like WLTC these dominate. Simulated ±25% mass gave ≈−9% / +18% changes in fuel consumption, consistent with only 2 of 4 force terms scaling with m. </a:t>
            </a: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adaptive ECMS keeps SOC balanced in all three cases without retuning.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Mass Sensitivity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Harshal Rajesh Kokitkar  |  AVE, Federico II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· 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2 — Key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9476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63040" y="180136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ECMS tuning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0" y="180136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EF s=3.23 gives SOC balance on WLTC; adaptive form is charge-sustaining on every cycle/mass tested without retuning.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3136392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economy &amp; emissions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14800" y="299008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≈5.5 l/100km, ≈125 g/km CO₂ on WLTC. HC/CO/NOx well within Euro 6e; CO₂ remains above the 93.6 g/km EU 2025 target.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5800" y="4325112"/>
            <a:ext cx="548640" cy="548640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63040" y="417880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points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14800" y="417880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ECMS shifts ICE points to low-BSFC region; P1 EM confined to a narrow low-torque assist/regen band.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457200" y="525780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551383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63040" y="536752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&amp; mass sensitivity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114800" y="536752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use and emissions scale with mean power demand and roughly linearly with mass (inertia + rolling dominated).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Conclusions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Harshal Rajesh Kokitkar  |  AVE, Federico II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4389120"/>
            <a:ext cx="3657600" cy="3657600"/>
          </a:xfrm>
          <a:prstGeom prst="ellipse">
            <a:avLst/>
          </a:prstGeom>
          <a:solidFill>
            <a:srgbClr val="3FA796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B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Cylinder to Cycle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9601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showed that engine efficiency is governed by breathing (λv), mixture (AFR) and combustion phasing (spark advance) — and that light-load throttling is the single largest efficiency penalty (BSFC 1126 → 282 g/kWh, 5%→50% load).
</a:t>
            </a:r>
            <a:r>
              <a:rPr lang="en-US" sz="1500" b="1" dirty="0">
                <a:solidFill>
                  <a:srgbClr val="7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showed that a P1 ECMS-controlled hybrid exploits exactly this insight </a:t>
            </a:r>
            <a:r>
              <a:rPr lang="en-US" sz="1500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shifting the engine into its efficient mid–high-load region and avoiding light-load operation — achieving Euro 6e-compliant pollutant emissions, though CO₂ remains above the 2025 EU fleet target for this vehicle class, and both fuel use and emissions scale predictably with driving-cycle severity and vehicle mass.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1900</Words>
  <Application>Microsoft Macintosh PowerPoint</Application>
  <PresentationFormat>Widescreen</PresentationFormat>
  <Paragraphs>253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HARSHAL RAJESH KOKITKAR</cp:lastModifiedBy>
  <cp:revision>3</cp:revision>
  <dcterms:created xsi:type="dcterms:W3CDTF">2026-07-14T18:55:09Z</dcterms:created>
  <dcterms:modified xsi:type="dcterms:W3CDTF">2026-09-23T10:33:48Z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2026-07-14T19:04:00Z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dd293b2d-e968-4c49-bec4-d1c6e95351af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50, 3, 0, 1</vt:lpwstr>
  </property>
</Properties>
</file>